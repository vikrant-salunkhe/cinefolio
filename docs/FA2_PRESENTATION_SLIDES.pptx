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 title, department, course context, and guiding faculty. Highlight that CineFolio is an advanced, production-grade movie portal built with React 18 and 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why a lightweight, custom-built application provides superior responsiveness over heavy, third-party aggregators.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evaluators through the tangible leap in complexity and polish between Phase I and Phase 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UI components never speak to localStorage or APIs directly—everything passes through movieService.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how custom hooks were engineered from scratch to maintain clean, reusable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touched state prevents premature error messages before the user interacts with an input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CineFolio achieves complete CRUD in both the data service layer and directly within user-facing interfaces.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the analytics engine aggregates catalogue metrics on the client side with zero backend latency.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the test suite guarantees software reliability and catches regressions before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by thanking the guide Prof. Dr. Avinash Chormale and the evaluation panel,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B44D"/>
          </a:solidFill>
          <a:ln>
            <a:solidFill>
              <a:srgbClr val="E8B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E8B44D"/>
                </a:solidFill>
                <a:latin typeface="Arial"/>
              </a:defRPr>
            </a:pPr>
            <a:r>
              <a:t>CineFolio — Advanced Movie Information Portal</a:t>
            </a:r>
          </a:p>
          <a:p>
            <a:pPr>
              <a:defRPr sz="1400">
                <a:solidFill>
                  <a:srgbClr val="8B92A3"/>
                </a:solidFill>
                <a:latin typeface="Arial"/>
              </a:defRPr>
            </a:pPr>
            <a:r>
              <a:t>Formative Assessment – II (FA-2) Final Project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5912" cy="438912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Course: Advanced Web Technologies (SYMCA, Semester III)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Student: Vikrant Salunkhe (PRN: 125M1H006)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Project Guide: Prof. Dr. Avinash Chormale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Department of MCA, Pimpri Chinchwad College of Engineering (PCCOE), Pune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GitHub Repository: https://github.com/vikrant-salunkhe/cinefolio.git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8B92A3"/>
                </a:solidFill>
                <a:latin typeface="Arial"/>
              </a:defRPr>
            </a:pPr>
            <a:r>
              <a:t>PCCOE MCA — Advanced Web Technologies (FA-2) | 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B44D"/>
          </a:solidFill>
          <a:ln>
            <a:solidFill>
              <a:srgbClr val="E8B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E8B44D"/>
                </a:solidFill>
                <a:latin typeface="Arial"/>
              </a:defRPr>
            </a:pPr>
            <a:r>
              <a:t>Problem Statement &amp; Project Objectives</a:t>
            </a:r>
          </a:p>
          <a:p>
            <a:pPr>
              <a:defRPr sz="1400">
                <a:solidFill>
                  <a:srgbClr val="8B92A3"/>
                </a:solidFill>
                <a:latin typeface="Arial"/>
              </a:defRPr>
            </a:pPr>
            <a:r>
              <a:t>Overcoming Fragmentation in Entertainment Discovery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5912" cy="438912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The Challenge: Modern streaming platforms and movie aggregators are bloated with intrusive ads, mandatory account sign-ups, and slow loading times.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The Solution: CineFolio provides a fast, cinema-themed portal enabling instant title search, filtering, reviewing, editing, and personal watchlist tracking.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Core Philosophy: Zero heavy UI dependencies (Vanilla CSS tokens), modular functional React architecture, and resilient client-side storage.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Target Audience: Cinema enthusiasts who want a lightweight, elegant portal for tracking and reviewing motion pictures.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8B92A3"/>
                </a:solidFill>
                <a:latin typeface="Arial"/>
              </a:defRPr>
            </a:pPr>
            <a:r>
              <a:t>PCCOE MCA — Advanced Web Technologies (FA-2) | 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B44D"/>
          </a:solidFill>
          <a:ln>
            <a:solidFill>
              <a:srgbClr val="E8B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E8B44D"/>
                </a:solidFill>
                <a:latin typeface="Arial"/>
              </a:defRPr>
            </a:pPr>
            <a:r>
              <a:t>Evolution: FA-1 Baseline vs. FA-2 Complete</a:t>
            </a:r>
          </a:p>
          <a:p>
            <a:pPr>
              <a:defRPr sz="1400">
                <a:solidFill>
                  <a:srgbClr val="8B92A3"/>
                </a:solidFill>
                <a:latin typeface="Arial"/>
              </a:defRPr>
            </a:pPr>
            <a:r>
              <a:t>Major Architectural Enhancements &amp; Additions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5912" cy="438912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Data Persistence: Shifted from in-memory mock data to persistent localStorage + live OMDb API integration + JSON backup export.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CRUD Scope: Extended from simple watchlist addition to full CRUD across Movies (Create, Read, Update via Modal, Delete), Reviews, and Notes.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Form Handling: Advanced from basic unvalidated inputs to rigorous client-side validation with touched tracking and live character counts.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Analytics &amp; Insights: Added live Box Office Insights (/insights) computing genre distributions and highest-rated leaderboards.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Testing: Automated test suite expanded from manual checks to 12 unit tests using Node's native test runner (100% passing).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8B92A3"/>
                </a:solidFill>
                <a:latin typeface="Arial"/>
              </a:defRPr>
            </a:pPr>
            <a:r>
              <a:t>PCCOE MCA — Advanced Web Technologies (FA-2) | 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B44D"/>
          </a:solidFill>
          <a:ln>
            <a:solidFill>
              <a:srgbClr val="E8B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E8B44D"/>
                </a:solidFill>
                <a:latin typeface="Arial"/>
              </a:defRPr>
            </a:pPr>
            <a:r>
              <a:t>System Architecture &amp; Decoupled Data Flow</a:t>
            </a:r>
          </a:p>
          <a:p>
            <a:pPr>
              <a:defRPr sz="1400">
                <a:solidFill>
                  <a:srgbClr val="8B92A3"/>
                </a:solidFill>
                <a:latin typeface="Arial"/>
              </a:defRPr>
            </a:pPr>
            <a:r>
              <a:t>Clean Separation of Presentation, Hooks &amp;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5912" cy="438912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Presentation Layer: Functional React 18 components, React Router v6 with URL query synchronization (?q=...&amp;genre=...).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State Management: WatchlistContext using useReducer for deterministic state transitions; ToastContext for global alerts.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Custom Hooks Layer: useDebounce (250ms keystroke settling) and useLocalStorage (bidirectional browser sync).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Service Layer (movieService.js): Decouples all storage logic, OMDb live API queries, and JSON backup serialization.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Fault Tolerance: React ErrorBoundary catches runtime exceptions with a ticket recovery UI; image fallbacks prevent broken icons.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8B92A3"/>
                </a:solidFill>
                <a:latin typeface="Arial"/>
              </a:defRPr>
            </a:pPr>
            <a:r>
              <a:t>PCCOE MCA — Advanced Web Technologies (FA-2) | 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B44D"/>
          </a:solidFill>
          <a:ln>
            <a:solidFill>
              <a:srgbClr val="E8B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E8B44D"/>
                </a:solidFill>
                <a:latin typeface="Arial"/>
              </a:defRPr>
            </a:pPr>
            <a:r>
              <a:t>Advanced React Hooks &amp; Performance Engineering</a:t>
            </a:r>
          </a:p>
          <a:p>
            <a:pPr>
              <a:defRPr sz="1400">
                <a:solidFill>
                  <a:srgbClr val="8B92A3"/>
                </a:solidFill>
                <a:latin typeface="Arial"/>
              </a:defRPr>
            </a:pPr>
            <a:r>
              <a:t>Optimizing Render Cycles and State Synchronization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5912" cy="438912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useDebounce(value, delayMs): Delays search query state updates until user stops typing (250ms), eliminating redundant filter passes.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useLocalStorage(key, initialValue): Custom hook synchronizing component state directly with browser storage.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useReducer: Manages complex watchlist actions (ADD, REMOVE, UPDATE_STATUS, UPDATE_NOTE, CLEAR) predictably.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useMemo: Memoizes paginated catalogue subsets (8 films/page) and aggregate box office analytics to avoid re-renders.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useCallback: Ensures stable notification function references across all child consumers.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8B92A3"/>
                </a:solidFill>
                <a:latin typeface="Arial"/>
              </a:defRPr>
            </a:pPr>
            <a:r>
              <a:t>PCCOE MCA — Advanced Web Technologies (FA-2) | 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B44D"/>
          </a:solidFill>
          <a:ln>
            <a:solidFill>
              <a:srgbClr val="E8B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E8B44D"/>
                </a:solidFill>
                <a:latin typeface="Arial"/>
              </a:defRPr>
            </a:pPr>
            <a:r>
              <a:t>Interactive Forms &amp; Real-Time Client Validation</a:t>
            </a:r>
          </a:p>
          <a:p>
            <a:pPr>
              <a:defRPr sz="1400">
                <a:solidFill>
                  <a:srgbClr val="8B92A3"/>
                </a:solidFill>
                <a:latin typeface="Arial"/>
              </a:defRPr>
            </a:pPr>
            <a:r>
              <a:t>Strict Input Validation with Instant Visual Feedback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5912" cy="438912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Add Movie Form (SubmitMovie.jsx): Enforces non-empty strings, minimum lengths (Title &gt;= 2, Synopsis &gt;= 15), and numeric limits (Year: 1888-2030, Rating: 1.0-10.0).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Movie Edit Modal (EditMovieModal.jsx): In-place updating modal with identical real-time validation and touched error highlighting.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Live API Autofill Engine: Users enter any movie name (e.g. Inception) and click 'Autofill' to populate plot, release year, director, and poster via OMDb.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Review Submission (ReviewSection.jsx): Validates reviewer name, 1-10 star select, and comment length with real-time character counters.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8B92A3"/>
                </a:solidFill>
                <a:latin typeface="Arial"/>
              </a:defRPr>
            </a:pPr>
            <a:r>
              <a:t>PCCOE MCA — Advanced Web Technologies (FA-2) | 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B44D"/>
          </a:solidFill>
          <a:ln>
            <a:solidFill>
              <a:srgbClr val="E8B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E8B44D"/>
                </a:solidFill>
                <a:latin typeface="Arial"/>
              </a:defRPr>
            </a:pPr>
            <a:r>
              <a:t>Complete CRUD Implementation &amp; Data Management</a:t>
            </a:r>
          </a:p>
          <a:p>
            <a:pPr>
              <a:defRPr sz="1400">
                <a:solidFill>
                  <a:srgbClr val="8B92A3"/>
                </a:solidFill>
                <a:latin typeface="Arial"/>
              </a:defRPr>
            </a:pPr>
            <a:r>
              <a:t>End-to-End Persistence for Movies, Reviews &amp; Watchlist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5912" cy="438912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Create (C): Add community films via validated form / API autofill; submit star-rated audience reviews.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Read (R): Catalogue search, multi-genre filtering, detailed movie specifications, and live box office metrics.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Update (U): EditMovieModal updates movie attributes in-place; status tabs (Plan to Watch / Watching / Completed) and private inline notes.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Delete (D): Delete titles from catalogue; delete audience reviews; remove watchlist items.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Data Management (/about): Portable JSON backup export, archival import with schema verification, and one-click demo re-seeding.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8B92A3"/>
                </a:solidFill>
                <a:latin typeface="Arial"/>
              </a:defRPr>
            </a:pPr>
            <a:r>
              <a:t>PCCOE MCA — Advanced Web Technologies (FA-2) | 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B44D"/>
          </a:solidFill>
          <a:ln>
            <a:solidFill>
              <a:srgbClr val="E8B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E8B44D"/>
                </a:solidFill>
                <a:latin typeface="Arial"/>
              </a:defRPr>
            </a:pPr>
            <a:r>
              <a:t>Box Office Analytics &amp; Cinema Insights (/insights)</a:t>
            </a:r>
          </a:p>
          <a:p>
            <a:pPr>
              <a:defRPr sz="1400">
                <a:solidFill>
                  <a:srgbClr val="8B92A3"/>
                </a:solidFill>
                <a:latin typeface="Arial"/>
              </a:defRPr>
            </a:pPr>
            <a:r>
              <a:t>Data Visualization &amp; User Engagement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5912" cy="438912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Key Metrics Cards: Displays total library titles, custom submissions, average critic score, and average runtime.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Genre Distribution Meters: Dynamic progress tracks showing title counts and computed average score per cinematic genre.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Top 5 Leaderboard: Ranks top 5 motion pictures with gold, silver, and bronze medal badges.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Watchlist Queue Status: Visual breakdown of viewing habits (Plan to Watch vs. Watching vs. Completed).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Social Sharing: One-click clipboard copy for movie links with immediate toast notification feedback.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8B92A3"/>
                </a:solidFill>
                <a:latin typeface="Arial"/>
              </a:defRPr>
            </a:pPr>
            <a:r>
              <a:t>PCCOE MCA — Advanced Web Technologies (FA-2) | 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B44D"/>
          </a:solidFill>
          <a:ln>
            <a:solidFill>
              <a:srgbClr val="E8B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E8B44D"/>
                </a:solidFill>
                <a:latin typeface="Arial"/>
              </a:defRPr>
            </a:pPr>
            <a:r>
              <a:t>Automated Testing Suite &amp; Production Deployment</a:t>
            </a:r>
          </a:p>
          <a:p>
            <a:pPr>
              <a:defRPr sz="1400">
                <a:solidFill>
                  <a:srgbClr val="8B92A3"/>
                </a:solidFill>
                <a:latin typeface="Arial"/>
              </a:defRPr>
            </a:pPr>
            <a:r>
              <a:t>100% Test Pass Rate &amp; Route Code-Splitting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5912" cy="438912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Test Runner: Native Node.js test runner (node --test src/**/*.test.js) without third-party test bloat.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Suite 1 (Custom Hooks): Timer debounce behavior and multi-genre string sanitization (2 tests).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Suite 2 (Movie &amp; Review Service): CRUD operations, filtering, sorting, reviews aggregation, and JSON backup/restore (10 tests).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Test Results: 12 passing tests, 0 failing, ~3.7s execution duration.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Vite 5 Production Build: Route-level code-splitting with React.lazy cuts initial bundle size; compiles 57 modules in 2.33s.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8B92A3"/>
                </a:solidFill>
                <a:latin typeface="Arial"/>
              </a:defRPr>
            </a:pPr>
            <a:r>
              <a:t>PCCOE MCA — Advanced Web Technologies (FA-2) | 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solidFill>
              <a:srgbClr val="0B0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B44D"/>
          </a:solidFill>
          <a:ln>
            <a:solidFill>
              <a:srgbClr val="E8B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E8B44D"/>
                </a:solidFill>
                <a:latin typeface="Arial"/>
              </a:defRPr>
            </a:pPr>
            <a:r>
              <a:t>Conclusion &amp; Viva Voce Q&amp;A Preparation</a:t>
            </a:r>
          </a:p>
          <a:p>
            <a:pPr>
              <a:defRPr sz="1400">
                <a:solidFill>
                  <a:srgbClr val="8B92A3"/>
                </a:solidFill>
                <a:latin typeface="Arial"/>
              </a:defRPr>
            </a:pPr>
            <a:r>
              <a:t>Key Takeaways, Academic Outcomes &amp; Technical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5912" cy="438912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262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Q: Why use useReducer over multiple useState calls in WatchlistContext?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A: When state transitions involve multiple interdependent operations (adding, removing, updating status, editing notes), useReducer centralizes business logic deterministically.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Q: How does useDebounce optimize performance in live search?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A: It postpones filtering until keystrokes settle (250ms), preventing unnecessary re-rendering and array filtering on every character typed.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Q: What is the benefit of React.lazy() and Suspense?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A: It dynamically imports page modules only when navigated to, drastically cutting initial page load time and improving Largest Contentful Paint (LCP).</a:t>
            </a:r>
          </a:p>
          <a:p>
            <a:pPr>
              <a:spcAft>
                <a:spcPts val="1200"/>
              </a:spcAft>
              <a:defRPr sz="1400">
                <a:solidFill>
                  <a:srgbClr val="F5F1E8"/>
                </a:solidFill>
                <a:latin typeface="Arial"/>
              </a:defRPr>
            </a:pPr>
            <a:r>
              <a:t>•  GitHub Repository: https://github.com/vikrant-salunkhe/cinefolio.git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8B92A3"/>
                </a:solidFill>
                <a:latin typeface="Arial"/>
              </a:defRPr>
            </a:pPr>
            <a:r>
              <a:t>PCCOE MCA — Advanced Web Technologies (FA-2) | 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